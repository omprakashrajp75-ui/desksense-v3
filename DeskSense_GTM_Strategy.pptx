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1143000"/>
            <a:ext cx="2286000" cy="2286000"/>
          </a:xfrm>
          <a:prstGeom prst="ellipse">
            <a:avLst/>
          </a:prstGeom>
          <a:noFill/>
          <a:ln w="25400">
            <a:solidFill>
              <a:srgbClr val="24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06840" y="1600200"/>
            <a:ext cx="1371600" cy="1371600"/>
          </a:xfrm>
          <a:prstGeom prst="ellipse">
            <a:avLst/>
          </a:prstGeom>
          <a:noFill/>
          <a:ln w="25400">
            <a:solidFill>
              <a:srgbClr val="24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1965960"/>
            <a:ext cx="640080" cy="640080"/>
          </a:xfrm>
          <a:prstGeom prst="ellipse">
            <a:avLst/>
          </a:prstGeom>
          <a:noFill/>
          <a:ln w="25400">
            <a:solidFill>
              <a:srgbClr val="24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676656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F6F8FC"/>
                </a:solidFill>
                <a:latin typeface="Aptos"/>
              </a:defRPr>
            </a:pPr>
            <a:r>
              <a:t>GO-TO-MARKET</a:t>
            </a:r>
          </a:p>
          <a:p>
            <a:pPr algn="l">
              <a:spcAft>
                <a:spcPts val="700"/>
              </a:spcAft>
              <a:defRPr sz="3400" b="1">
                <a:solidFill>
                  <a:srgbClr val="F6F8FC"/>
                </a:solidFill>
                <a:latin typeface="Aptos"/>
              </a:defRPr>
            </a:pPr>
            <a: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07792"/>
            <a:ext cx="6217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24C5B4"/>
                </a:solidFill>
                <a:latin typeface="Aptos"/>
              </a:defRPr>
            </a:pPr>
            <a:r>
              <a:t>DeskSense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584448"/>
            <a:ext cx="6583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B1BED0"/>
                </a:solidFill>
                <a:latin typeface="Aptos"/>
              </a:defRPr>
            </a:pPr>
            <a:r>
              <a:t>Privacy-first AIoT workplace wellness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892040"/>
            <a:ext cx="6583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GCC-first • Design-partner-led • Evidence-driven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44768"/>
            <a:ext cx="6949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1BED0"/>
                </a:solidFill>
                <a:latin typeface="Aptos"/>
              </a:defRPr>
            </a:pPr>
            <a:r>
              <a:t>AIoT Design Challenge 2026  |  National Grand Finale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461772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CORE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956048"/>
            <a:ext cx="3154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Prove value in one GCC.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Convert evidence into paid deployments.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Scale through trusted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01  | 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The market problem creates a focused entry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4008" cy="1828800"/>
          </a:xfrm>
          <a:prstGeom prst="roundRect">
            <a:avLst>
              <a:gd name="adj" fmla="val 12000"/>
            </a:avLst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3136392" cy="10424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Pooled prevalence of work-related musculoskeletal pain among Indian IT professionals.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64008" cy="1828800"/>
          </a:xfrm>
          <a:prstGeom prst="roundRect">
            <a:avLst>
              <a:gd name="adj" fmla="val 12000"/>
            </a:avLst>
          </a:prstGeom>
          <a:solidFill>
            <a:srgbClr val="6F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2.36M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04288"/>
            <a:ext cx="3136392" cy="10424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Employees in Indian Global Capability Centres (GCCs) — the proposed beachhead.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64008" cy="1828800"/>
          </a:xfrm>
          <a:prstGeom prst="roundRect">
            <a:avLst>
              <a:gd name="adj" fmla="val 12000"/>
            </a:avLst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1363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₹300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136392" cy="10424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Proposed monthly price per monitored desk; commercial willingness to pay is unvalidated.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2926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F6F8FC"/>
                </a:solidFill>
                <a:latin typeface="Aptos"/>
              </a:defRPr>
            </a:pPr>
            <a:r>
              <a:t>Why GCCs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68580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B1BED0"/>
                </a:solidFill>
                <a:latin typeface="Aptos"/>
              </a:defRPr>
            </a:pPr>
            <a:r>
              <a:t>• Enterprise facilities and occupational-health stakeholders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B1BED0"/>
                </a:solidFill>
                <a:latin typeface="Aptos"/>
              </a:defRPr>
            </a:pPr>
            <a:r>
              <a:t>• Multinational privacy and security expectations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B1BED0"/>
                </a:solidFill>
                <a:latin typeface="Aptos"/>
              </a:defRPr>
            </a:pPr>
            <a:r>
              <a:t>• Potential to expand from one site to multiple desks and 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886200"/>
            <a:ext cx="3611880" cy="1691640"/>
          </a:xfrm>
          <a:prstGeom prst="roundRect">
            <a:avLst>
              <a:gd name="adj" fmla="val 12000"/>
            </a:avLst>
          </a:prstGeom>
          <a:solidFill>
            <a:srgbClr val="1F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160520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ENTRY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553712"/>
            <a:ext cx="288036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Start with one GCC in Coimbatore or Bengaluru—not the entire office market.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08192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B1BED0"/>
                </a:solidFill>
                <a:latin typeface="Aptos"/>
              </a:defRPr>
            </a:pPr>
            <a:r>
              <a:t>Source: DeskSense Business Model &amp; Market Case; figures are source-document estimates.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02  | 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Position DeskSense around privacy + ergonomics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521208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F6F8FC"/>
                </a:solidFill>
                <a:latin typeface="Aptos"/>
              </a:defRPr>
            </a:pPr>
            <a:r>
              <a:t>Workplace ergonomics insights without sending employee video to the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6420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F6F8FC"/>
                </a:solidFill>
                <a:latin typeface="Aptos"/>
              </a:defRPr>
            </a:pPr>
            <a:r>
              <a:t>Differentiation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14884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148840"/>
            <a:ext cx="64008" cy="1325880"/>
          </a:xfrm>
          <a:prstGeom prst="roundRect">
            <a:avLst>
              <a:gd name="adj" fmla="val 12000"/>
            </a:avLst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2313432"/>
            <a:ext cx="21305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Edge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807208"/>
            <a:ext cx="213055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Vision inference runs locally.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14884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2148840"/>
            <a:ext cx="64008" cy="1325880"/>
          </a:xfrm>
          <a:prstGeom prst="roundRect">
            <a:avLst>
              <a:gd name="adj" fmla="val 12000"/>
            </a:avLst>
          </a:prstGeom>
          <a:solidFill>
            <a:srgbClr val="6F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2313432"/>
            <a:ext cx="21305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Independent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807208"/>
            <a:ext cx="213055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No corporate laptop agent required.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703320"/>
            <a:ext cx="64008" cy="1325880"/>
          </a:xfrm>
          <a:prstGeom prst="roundRect">
            <a:avLst>
              <a:gd name="adj" fmla="val 12000"/>
            </a:avLst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867911"/>
            <a:ext cx="21305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Physical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4361688"/>
            <a:ext cx="213055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Relays can interface with desk equipment.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370332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3703320"/>
            <a:ext cx="64008" cy="1325880"/>
          </a:xfrm>
          <a:prstGeom prst="roundRect">
            <a:avLst>
              <a:gd name="adj" fmla="val 12000"/>
            </a:avLst>
          </a:prstGeom>
          <a:solidFill>
            <a:srgbClr val="6DD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3867911"/>
            <a:ext cx="21305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Enterprise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4361688"/>
            <a:ext cx="2130552" cy="5394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Aggregate ergonomics and utilization insights.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886200"/>
            <a:ext cx="5166360" cy="1325880"/>
          </a:xfrm>
          <a:prstGeom prst="roundRect">
            <a:avLst>
              <a:gd name="adj" fmla="val 12000"/>
            </a:avLst>
          </a:prstGeom>
          <a:solidFill>
            <a:srgbClr val="1F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33087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TRUST IS A PRODUCT REQUIREMENT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98848"/>
            <a:ext cx="45262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1BED0"/>
                </a:solidFill>
                <a:latin typeface="Aptos"/>
              </a:defRPr>
            </a:pPr>
            <a:r>
              <a:t>Verify data flows, access controls and network behavior before making absolute privacy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03  |  CUSTOMER &amp;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Sell to EHS / Facilities; engage HR and IT 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PRIMARY BUYER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309067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EHS Head or Facilities Head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Owns workplace health / facilities priorities.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INFLUENCERS / VETO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50008"/>
            <a:ext cx="309067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HR, IT Security, Data Protection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Address acceptance and privacy before pilot.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1691640"/>
            <a:ext cx="64008" cy="1417320"/>
          </a:xfrm>
          <a:prstGeom prst="roundRect">
            <a:avLst>
              <a:gd name="adj" fmla="val 12000"/>
            </a:avLst>
          </a:prstGeom>
          <a:solidFill>
            <a:srgbClr val="6F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56232"/>
            <a:ext cx="3090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INITIAL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50008"/>
            <a:ext cx="3090672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GCC with fixed-desk workers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Start with 25 desks at one site.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F6F8FC"/>
                </a:solidFill>
                <a:latin typeface="Aptos"/>
              </a:defRPr>
            </a:pPr>
            <a:r>
              <a:t>Enterprise acquisition funnel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1993392" cy="123444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72000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19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1BED0"/>
                </a:solidFill>
                <a:latin typeface="Aptos"/>
              </a:defRPr>
            </a:pPr>
            <a:r>
              <a:t>Qualify GCC accounts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99232" y="4160520"/>
            <a:ext cx="1993392" cy="123444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6392" y="429768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6392" y="4572000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Demonstrate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4919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1BED0"/>
                </a:solidFill>
                <a:latin typeface="Aptos"/>
              </a:defRPr>
            </a:pPr>
            <a:r>
              <a:t>Show live system + privacy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66944" y="4160520"/>
            <a:ext cx="1993392" cy="123444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4104" y="429768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4104" y="4572000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4104" y="4919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1BED0"/>
                </a:solidFill>
                <a:latin typeface="Aptos"/>
              </a:defRPr>
            </a:pPr>
            <a:r>
              <a:t>25 desks; agree on metrics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4656" y="4160520"/>
            <a:ext cx="1993392" cy="123444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71816" y="429768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816" y="4572000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816" y="4919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1BED0"/>
                </a:solidFill>
                <a:latin typeface="Aptos"/>
              </a:defRPr>
            </a:pPr>
            <a:r>
              <a:t>Baseline vs. endline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02368" y="4160520"/>
            <a:ext cx="1993392" cy="123444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9528" y="4297680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9528" y="4572000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Convert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4919472"/>
            <a:ext cx="1691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1BED0"/>
                </a:solidFill>
                <a:latin typeface="Aptos"/>
              </a:defRPr>
            </a:pPr>
            <a:r>
              <a:t>Paid three-year contract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4C5B4"/>
                </a:solidFill>
                <a:latin typeface="Aptos"/>
              </a:defRPr>
            </a:pPr>
            <a:r>
              <a:t>Core sales message: wellbeing and ergonomics—not employee surveillance.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04  | 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Recurring revenue through Hardware-as-a-Service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749039" cy="196596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828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24C5B4"/>
                </a:solidFill>
                <a:latin typeface="Aptos"/>
              </a:defRPr>
            </a:pPr>
            <a:r>
              <a:t>₹300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97480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per desk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27248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₹10,800 total contract revenue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per desk over 36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737360"/>
            <a:ext cx="4114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F6F8FC"/>
                </a:solidFill>
                <a:latin typeface="Aptos"/>
              </a:defRPr>
            </a:pPr>
            <a:r>
              <a:t>Illustrative unit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31720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4C5B4"/>
                </a:solidFill>
                <a:latin typeface="Aptos"/>
              </a:defRPr>
            </a:pPr>
            <a:r>
              <a:t>₹3,600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68296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1BED0"/>
                </a:solidFill>
                <a:latin typeface="Aptos"/>
              </a:defRPr>
            </a:pPr>
            <a:r>
              <a:t>Annual revenue / 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81527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F5B942"/>
                </a:solidFill>
                <a:latin typeface="Aptos"/>
              </a:defRPr>
            </a:pPr>
            <a:r>
              <a:t>₹4,850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18103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1BED0"/>
                </a:solidFill>
                <a:latin typeface="Aptos"/>
              </a:defRPr>
            </a:pPr>
            <a:r>
              <a:t>Estimated production hardware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31335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4C5B4"/>
                </a:solidFill>
                <a:latin typeface="Aptos"/>
              </a:defRPr>
            </a:pPr>
            <a:r>
              <a:t>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67911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1BED0"/>
                </a:solidFill>
                <a:latin typeface="Aptos"/>
              </a:defRPr>
            </a:pPr>
            <a:r>
              <a:t>Hardware-level gross margin before support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581144"/>
            <a:ext cx="1554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4C5B4"/>
                </a:solidFill>
                <a:latin typeface="Aptos"/>
              </a:defRPr>
            </a:pPr>
            <a:r>
              <a:t>~16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61772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1BED0"/>
                </a:solidFill>
                <a:latin typeface="Aptos"/>
              </a:defRPr>
            </a:pPr>
            <a:r>
              <a:t>Estimated hardware payback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10744200" cy="1143000"/>
          </a:xfrm>
          <a:prstGeom prst="roundRect">
            <a:avLst>
              <a:gd name="adj" fmla="val 12000"/>
            </a:avLst>
          </a:prstGeom>
          <a:solidFill>
            <a:srgbClr val="1F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07408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Potential expansion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407408"/>
            <a:ext cx="7223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1BED0"/>
                </a:solidFill>
                <a:latin typeface="Aptos"/>
              </a:defRPr>
            </a:pPr>
            <a:r>
              <a:t>Aggregate ergonomics reporting  •  Workplace occupancy / utilization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F5B942"/>
                </a:solidFill>
                <a:latin typeface="Aptos"/>
              </a:defRPr>
            </a:pPr>
            <a:r>
              <a:t>Caveat: ₹300 pricing and ₹4,850 BOM are proposed / estimated—not validated quotes. Full service costs are excluded.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05  | 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A 12-month roadmap from proof to repeatable sales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52044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965960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MONTHS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2926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DESIGN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5292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4C5B4"/>
                </a:solidFill>
                <a:latin typeface="Aptos"/>
              </a:defRPr>
            </a:pPr>
            <a:r>
              <a:t>1 site • 25 desks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29000"/>
            <a:ext cx="292608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Secure one GCC partner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Install and establish baseline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Agree evaluation + data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3383280" cy="352044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6FDBE2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1965960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MONTHS 4–6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2926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PROOF &amp;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5292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6FDBE2"/>
                </a:solidFill>
                <a:latin typeface="Aptos"/>
              </a:defRPr>
            </a:pPr>
            <a:r>
              <a:t>3 sites • 400 desks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29000"/>
            <a:ext cx="292608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Complete endline evaluation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Publish approved case study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Convert pilot; approach 2 GCCs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737360"/>
            <a:ext cx="3383280" cy="352044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965960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F5B942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1965960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MONTHS 7–12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359152"/>
            <a:ext cx="29260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6F8FC"/>
                </a:solidFill>
                <a:latin typeface="Aptos"/>
              </a:defRPr>
            </a:pPr>
            <a:r>
              <a:t>CHANNEL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85292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5B942"/>
                </a:solidFill>
                <a:latin typeface="Aptos"/>
              </a:defRPr>
            </a:pPr>
            <a:r>
              <a:t>10 sites • 2,500 desks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429000"/>
            <a:ext cx="292608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Partner with EHS consultancies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Engage ISO 45001 auditors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• Standardize deployment +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F5B942"/>
                </a:solidFill>
                <a:latin typeface="Aptos"/>
              </a:defRPr>
            </a:pPr>
            <a:r>
              <a:t>Targets are planning assumptions from the source document; they are not achieved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06  |  MARKET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Bottom-up market sizing and revenue ambition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6903720" cy="86868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4C5B4"/>
                </a:solidFill>
                <a:latin typeface="Aptos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0195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6F8FC"/>
                </a:solidFill>
                <a:latin typeface="Aptos"/>
              </a:defRPr>
            </a:pPr>
            <a:r>
              <a:t>5.8M 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90195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₹2,088 crore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1234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B1BED0"/>
                </a:solidFill>
                <a:latin typeface="Aptos"/>
              </a:defRPr>
            </a:pPr>
            <a:r>
              <a:t>India technology workforce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80360"/>
            <a:ext cx="6903720" cy="86868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44952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4C5B4"/>
                </a:solidFill>
                <a:latin typeface="Aptos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04495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6F8FC"/>
                </a:solidFill>
                <a:latin typeface="Aptos"/>
              </a:defRPr>
            </a:pPr>
            <a:r>
              <a:t>2.36M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4495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₹850 crore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63240"/>
            <a:ext cx="1234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B1BED0"/>
                </a:solidFill>
                <a:latin typeface="Aptos"/>
              </a:defRPr>
            </a:pPr>
            <a:r>
              <a:t>Indian GCC workforce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6903720" cy="86868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87952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5B942"/>
                </a:solidFill>
                <a:latin typeface="Aptos"/>
              </a:defRPr>
            </a:pPr>
            <a:r>
              <a:t>SOM • Year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18795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6F8FC"/>
                </a:solidFill>
                <a:latin typeface="Aptos"/>
              </a:defRPr>
            </a:pPr>
            <a:r>
              <a:t>47,000 desks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187952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₹17 crore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06240"/>
            <a:ext cx="12344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B1BED0"/>
                </a:solidFill>
                <a:latin typeface="Aptos"/>
              </a:defRPr>
            </a:pPr>
            <a:r>
              <a:t>2% of SAM, at proposed pricing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737360"/>
            <a:ext cx="3383280" cy="3154680"/>
          </a:xfrm>
          <a:prstGeom prst="roundRect">
            <a:avLst>
              <a:gd name="adj" fmla="val 12000"/>
            </a:avLst>
          </a:prstGeom>
          <a:solidFill>
            <a:srgbClr val="1F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05740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YEAR-ONE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14600"/>
            <a:ext cx="24688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F6F8FC"/>
                </a:solidFill>
                <a:latin typeface="Aptos"/>
              </a:defRPr>
            </a:pPr>
            <a:r>
              <a:t>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0896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1BED0"/>
                </a:solidFill>
                <a:latin typeface="Aptos"/>
              </a:defRPr>
            </a:pPr>
            <a:r>
              <a:t>active paid desks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F5B942"/>
                </a:solidFill>
                <a:latin typeface="Aptos"/>
              </a:defRPr>
            </a:pPr>
            <a:r>
              <a:t>₹90 lakh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187952"/>
            <a:ext cx="2560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1BED0"/>
                </a:solidFill>
                <a:latin typeface="Aptos"/>
              </a:defRPr>
            </a:pPr>
            <a:r>
              <a:t>annualized subscription run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5B942"/>
                </a:solidFill>
                <a:latin typeface="Aptos"/>
              </a:defRPr>
            </a:pPr>
            <a:r>
              <a:t>Assumes all 2,500 desks are active and paying at ₹3,600/year. This is not first-year recognized revenue.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07  |  TRUST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Build trust, measure impact, manage execution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16459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304495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Verify no outbound imagery; explain what is detected, stored and shared.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6459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6F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50008"/>
            <a:ext cx="304495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Measure baseline vs. endline; report reliability and sustained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29000" cy="16459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64008" cy="1645920"/>
          </a:xfrm>
          <a:prstGeom prst="roundRect">
            <a:avLst>
              <a:gd name="adj" fmla="val 12000"/>
            </a:avLst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6F8FC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50008"/>
            <a:ext cx="3044952" cy="8595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Validate BOM with supplier quotes; include support, warranty and acquisition costs.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3108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F6F8FC"/>
                </a:solidFill>
                <a:latin typeface="Aptos"/>
              </a:defRPr>
            </a:pPr>
            <a:r>
              <a:t>Contractual impact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43400"/>
            <a:ext cx="3794760" cy="105156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53712"/>
            <a:ext cx="1600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4C5B4"/>
                </a:solidFill>
                <a:latin typeface="Aptos"/>
              </a:defRPr>
            </a:pPr>
            <a:r>
              <a:t>10 paid desks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544568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6F8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553712"/>
            <a:ext cx="12344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6F8FC"/>
                </a:solidFill>
                <a:latin typeface="Aptos"/>
              </a:defRPr>
            </a:pPr>
            <a:r>
              <a:t>1 free institutional 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913632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Priority beneficiaries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343400"/>
            <a:ext cx="297180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Government engineering colleges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Public libraries / study centres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NGO-run skilling centres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343400"/>
            <a:ext cx="297180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Track deployments, 90-day posture-score change, 6-month sustained use and district reach.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4C5B4"/>
                </a:solidFill>
                <a:latin typeface="Aptos"/>
              </a:defRPr>
            </a:pPr>
            <a:r>
              <a:t>08  |  KPIS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F6F8FC"/>
                </a:solidFill>
                <a:latin typeface="Aptos"/>
              </a:defRPr>
            </a:pPr>
            <a:r>
              <a:t>Measure what proves product-market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658368" cy="50292"/>
          </a:xfrm>
          <a:prstGeom prst="rect">
            <a:avLst/>
          </a:prstGeom>
          <a:solidFill>
            <a:srgbClr val="24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B1BED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9339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4C5B4"/>
                </a:solidFill>
                <a:latin typeface="Aptos"/>
              </a:defRPr>
            </a:pPr>
            <a: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8803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Paid desks &amp; sites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Pilot-to-paid conversion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Sales cycle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Customer acquisition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3736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99339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4C5B4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514600"/>
            <a:ext cx="28803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Detection reliability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Device uptime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Sustained-use rate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Privacy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73736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162640"/>
          </a:solidFill>
          <a:ln w="15240">
            <a:solidFill>
              <a:srgbClr val="2F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9339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5B942"/>
                </a:solidFill>
                <a:latin typeface="Aptos"/>
              </a:defRPr>
            </a:pPr>
            <a:r>
              <a:t>FINANCIAL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28803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Actual BOM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Contribution margin / desk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Support cost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1BED0"/>
                </a:solidFill>
                <a:latin typeface="Aptos"/>
              </a:defRPr>
            </a:pPr>
            <a:r>
              <a:t>• Renewal / expansion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80560"/>
            <a:ext cx="10835640" cy="960120"/>
          </a:xfrm>
          <a:prstGeom prst="roundRect">
            <a:avLst>
              <a:gd name="adj" fmla="val 12000"/>
            </a:avLst>
          </a:prstGeom>
          <a:solidFill>
            <a:srgbClr val="1F3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4C5B4"/>
                </a:solidFill>
                <a:latin typeface="Aptos"/>
              </a:defRPr>
            </a:pPr>
            <a:r>
              <a:t>IMMEDIATE PRIORITIES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663440"/>
            <a:ext cx="795527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6F8FC"/>
                </a:solidFill>
                <a:latin typeface="Aptos"/>
              </a:defRPr>
            </a:pPr>
            <a:r>
              <a:t>1) Secure a GCC design partner   2) Agree measurable pilot outcomes   3) Validate pricing and production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6F8FC"/>
                </a:solidFill>
                <a:latin typeface="Aptos"/>
              </a:defRPr>
            </a:pPr>
            <a:r>
              <a:t>GTM thesis: one credible deployment → evidence → paid conversion → channel-led scale.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B1BED0"/>
                </a:solidFill>
                <a:latin typeface="Aptos"/>
              </a:defRPr>
            </a:pPr>
            <a:r>
              <a:t>DESKSENSE  •  GTM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