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34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DeskSense is a desk-side wellness device that runs entirely on an Arduino UNO Q. Nothing leaves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meta-analyses land on the same number: two thirds of desk workers are already 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stages: sense, understand, act, reflect — all on-device.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YOLOX-Nano, ResNet-10 SSD, a personal baseline, EMA debouncing and a local Qwen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s scoring cadence, ~6.7 FPS preview, 12-19 s slouch-to-relay, 96 rows per 8-hour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privacy claim is architectural, not a policy promise — there is no cloud path to switch back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price from Robocraze, Sep 2026. Margin band is illustrative and needs a real quote before it is presented as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The pilot is the next real milestone; everything else follows from its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65960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</a:t>
            </a: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803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 AI desk wellness companion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11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desk should watch out for you — not watch you for someone else.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43484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Q   ·   Computer vision   ·   On-device AI   ·   Real-time embedded control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DeskSense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08192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College of Engineering, Bargur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desk hours create problems the desk cannot see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posture builds gradually and attention breaks silently — both go unnoticed until discomfort shows 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62528" cy="1783080"/>
          </a:xfrm>
          <a:prstGeom prst="roundRect">
            <a:avLst>
              <a:gd name="adj" fmla="val 410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59152"/>
            <a:ext cx="2950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IT professionals report work-related musculoskeletal pain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80944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across 20 studies, 15,709 people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9496" y="1572768"/>
            <a:ext cx="3462528" cy="1783080"/>
          </a:xfrm>
          <a:prstGeom prst="roundRect">
            <a:avLst>
              <a:gd name="adj" fmla="val 410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5528" y="1755648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05528" y="2359152"/>
            <a:ext cx="2950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global prevalence of computer vision syndrome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05528" y="2980944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studies, 17,526 participants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2064" y="1572768"/>
            <a:ext cx="3462528" cy="1783080"/>
          </a:xfrm>
          <a:prstGeom prst="roundRect">
            <a:avLst>
              <a:gd name="adj" fmla="val 410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8096" y="1755648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6–9 h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88096" y="2359152"/>
            <a:ext cx="2950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continuous sitting in a typical study or work session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88096" y="2980944"/>
            <a:ext cx="295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desk workers alike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70332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tools do not solve 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133088"/>
            <a:ext cx="346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407408"/>
            <a:ext cx="3462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and keyboard logs infer focus. They can never see posture.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49496" y="4133088"/>
            <a:ext cx="346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webcam tools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49496" y="4407408"/>
            <a:ext cx="3462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leave the room for remote processing — a privacy cost users refuse.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2064" y="4133088"/>
            <a:ext cx="346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dashboards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32064" y="4407408"/>
            <a:ext cx="3462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report on the worker, not to improve the desk they sit at.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40680"/>
            <a:ext cx="11027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4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observe the user. DeskSense changes the desk.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550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Discover Public Health (2025), systematic review and meta-analysis of Indian IT professionals · Scientific Reports (2023), computer vision syndrome meta-analysis.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passive monitoring to active intervention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senses, understands, acts and reflects — the whole loop runs on the desk.</a:t>
            </a:r>
            <a:endParaRPr lang="en-US" sz="1300" dirty="0"/>
          </a:p>
        </p:txBody>
      </p:sp>
      <p:pic>
        <p:nvPicPr>
          <p:cNvPr id="4" name="Image 0" descr="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66" y="1207008"/>
            <a:ext cx="8133588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used only where perception is difficult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and a decision layer turn raw camera input into one honest posture and attention score.</a:t>
            </a:r>
            <a:endParaRPr lang="en-US" sz="1300" dirty="0"/>
          </a:p>
        </p:txBody>
      </p:sp>
      <p:pic>
        <p:nvPicPr>
          <p:cNvPr id="4" name="Image 0" descr="im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417" y="1207008"/>
            <a:ext cx="9634686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running and measured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with instrumented performance — and its limitations documented, not hidden.</a:t>
            </a:r>
            <a:endParaRPr lang="en-US" sz="1300" dirty="0"/>
          </a:p>
        </p:txBody>
      </p:sp>
      <p:pic>
        <p:nvPicPr>
          <p:cNvPr id="4" name="Image 0" descr="img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966" y="1207008"/>
            <a:ext cx="8133588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to copy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positions that a cloud-based competitor cannot hold at the same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462528" cy="3108960"/>
          </a:xfrm>
          <a:prstGeom prst="roundRect">
            <a:avLst>
              <a:gd name="adj" fmla="val 235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10512"/>
            <a:ext cx="291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architecture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2913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locally — no cloud dependency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frames are never written to disk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 session data is stored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sign-up, no third party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9496" y="1572768"/>
            <a:ext cx="3462528" cy="3108960"/>
          </a:xfrm>
          <a:prstGeom prst="roundRect">
            <a:avLst>
              <a:gd name="adj" fmla="val 235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3816" y="1810512"/>
            <a:ext cx="291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baseline per person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623816" y="2267712"/>
            <a:ext cx="2913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8-second individual calibration on sit-down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drift from your own posture, not a fixed ideal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Median-locked, reset whenever you leave the desk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 5'2" and a 6'2" user without retraining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2064" y="1572768"/>
            <a:ext cx="3462528" cy="3108960"/>
          </a:xfrm>
          <a:prstGeom prst="roundRect">
            <a:avLst>
              <a:gd name="adj" fmla="val 235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6384" y="1810512"/>
            <a:ext cx="291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acts, not just observes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06384" y="2267712"/>
            <a:ext cx="29138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Relay-controlled desk devices — lamp, fan, and more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and alerts at the desk, in the moment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so it nudges on drift, not on a twitch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LLM writes the end-of-session summary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4983480"/>
            <a:ext cx="11027664" cy="777240"/>
          </a:xfrm>
          <a:prstGeom prst="roundRect">
            <a:avLst>
              <a:gd name="adj" fmla="val 9412"/>
            </a:avLst>
          </a:prstGeom>
          <a:solidFill>
            <a:srgbClr val="0C3134"/>
          </a:solidFill>
          <a:ln w="12700">
            <a:solidFill>
              <a:srgbClr val="0C31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5138928"/>
            <a:ext cx="1038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Person-owned, not employer-owned.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competing product asks the user to trade privacy for insight. This one does not make the trade.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and business model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purchase for a person, not a per-seat subscription sold to their employer.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262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993392"/>
            <a:ext cx="526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5.95 M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377440"/>
            <a:ext cx="526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employed by the Indian tech industry in FY26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43200"/>
            <a:ext cx="5262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017520"/>
            <a:ext cx="526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4.50 crore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401568"/>
            <a:ext cx="526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in Indian higher education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767328"/>
            <a:ext cx="5262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AISHE 2023–24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41648"/>
            <a:ext cx="526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$2.60 B → $4.07 B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425696"/>
            <a:ext cx="52623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corporate wellness market, 2025 to 2034 (5.09% CAGR)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791456"/>
            <a:ext cx="5262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332220" y="1572768"/>
            <a:ext cx="5262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9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makes money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32220" y="1993392"/>
            <a:ext cx="5262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sale, one-time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32220" y="2286000"/>
            <a:ext cx="52623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by the person who sits at the desk. No subscription and no data business — that is the promise the product is built 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32220" y="3017520"/>
            <a:ext cx="5262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per-desk bundles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32220" y="3310128"/>
            <a:ext cx="52623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 to fifty-desk deployments in college labs, libraries and co-working floors, sold on ergonomics outcomes.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32220" y="4041648"/>
            <a:ext cx="5262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software core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32220" y="4334256"/>
            <a:ext cx="52623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stays public. Trust is the moat, and it is cheaper to earn in the open than to claim in a privacy policy.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11027664" cy="914400"/>
          </a:xfrm>
          <a:prstGeom prst="roundRect">
            <a:avLst>
              <a:gd name="adj" fmla="val 8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5266944"/>
            <a:ext cx="10387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45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estimates, not quotes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5522976"/>
            <a:ext cx="1038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4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BOM ≈ ₹9,300 at single-unit Indian retail — the UNO Q 2 GB board (₹6,745) is about 72% of it, with camera, relay module and enclosure making up the rest. An indicative retail band of ₹12,000–15,000 leaves roughly 30–40% gross margin before volume pricing on the board. Every figure on this line is an estimate built from list prices.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3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working prototype to something people can 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51176" cy="1554480"/>
          </a:xfrm>
          <a:prstGeom prst="roundRect">
            <a:avLst>
              <a:gd name="adj" fmla="val 4706"/>
            </a:avLst>
          </a:prstGeom>
          <a:solidFill>
            <a:srgbClr val="17454A"/>
          </a:solidFill>
          <a:ln w="12700">
            <a:solidFill>
              <a:srgbClr val="1745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87452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12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on the dashboard — the one honest gap, closed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2424" y="1691640"/>
            <a:ext cx="2551176" cy="1554480"/>
          </a:xfrm>
          <a:prstGeom prst="roundRect">
            <a:avLst>
              <a:gd name="adj" fmla="val 4706"/>
            </a:avLst>
          </a:prstGeom>
          <a:solidFill>
            <a:srgbClr val="17454A"/>
          </a:solidFill>
          <a:ln w="12700">
            <a:solidFill>
              <a:srgbClr val="1745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21024" y="187452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months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21024" y="2212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a college lab: 20 users, measured adoption and retention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51176" cy="1554480"/>
          </a:xfrm>
          <a:prstGeom prst="roundRect">
            <a:avLst>
              <a:gd name="adj" fmla="val 4706"/>
            </a:avLst>
          </a:prstGeom>
          <a:solidFill>
            <a:srgbClr val="17454A"/>
          </a:solidFill>
          <a:ln w="12700">
            <a:solidFill>
              <a:srgbClr val="1745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12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Enclosure, single-board BOM, install in under ten minutes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43416" y="1691640"/>
            <a:ext cx="2551176" cy="1554480"/>
          </a:xfrm>
          <a:prstGeom prst="roundRect">
            <a:avLst>
              <a:gd name="adj" fmla="val 4706"/>
            </a:avLst>
          </a:prstGeom>
          <a:solidFill>
            <a:srgbClr val="17454A"/>
          </a:solidFill>
          <a:ln w="12700">
            <a:solidFill>
              <a:srgbClr val="1745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2016" y="187452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months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72016" y="2212848"/>
            <a:ext cx="2093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summaries and a real pose model once one runs on ARMv8.0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6118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reaches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00507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279392"/>
            <a:ext cx="346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study habits during long sessions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49496" y="400507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workers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49496" y="4279392"/>
            <a:ext cx="346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posture and attention feedback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2064" y="4005072"/>
            <a:ext cx="3462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spaces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32064" y="4279392"/>
            <a:ext cx="346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without centralised surveillance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12648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</a:t>
            </a: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r>
              <a:rPr lang="en-US" sz="1100" b="1" dirty="0">
                <a:solidFill>
                  <a:srgbClr val="8AA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Team  THIRAN-X ·   Government College of Engineering, Bargur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936</Words>
  <Application>Microsoft Office PowerPoint</Application>
  <PresentationFormat>Widescreen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 prakash raj</cp:lastModifiedBy>
  <cp:revision>2</cp:revision>
  <dcterms:created xsi:type="dcterms:W3CDTF">2026-09-16T18:13:45Z</dcterms:created>
  <dcterms:modified xsi:type="dcterms:W3CDTF">2026-09-17T08:53:25Z</dcterms:modified>
</cp:coreProperties>
</file>